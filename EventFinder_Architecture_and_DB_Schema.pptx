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51560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Segoe UI"/>
              </a:rPr>
              <a:t>EventFinder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515600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800" b="0" i="0">
                <a:solidFill>
                  <a:srgbClr val="93C5FD"/>
                </a:solidFill>
                <a:latin typeface="Segoe UI"/>
              </a:rPr>
              <a:t>System Architecture &amp; Database 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520440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500" b="0" i="1">
                <a:solidFill>
                  <a:srgbClr val="CBD5E1"/>
                </a:solidFill>
                <a:latin typeface="Segoe UI"/>
              </a:rPr>
              <a:t>Full-stack event discovery, booking and engagement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429768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React 19 + Vite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07208" y="429768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Django 6 + DRF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73168" y="429768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MySQL 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39127" y="429768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Redis + Celery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05088" y="429768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WebSocket Chat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806440"/>
            <a:ext cx="10058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Project Technical Walkthrough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10896"/>
            <a:ext cx="100584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Segoe UI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73152"/>
            <a:ext cx="100584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Segoe UI"/>
              </a:rPr>
              <a:t>WHAT IS EVENTFINDER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28816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EventFinder  |  Architecture &amp; Database 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28816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188720"/>
            <a:ext cx="5394960" cy="365760"/>
          </a:xfrm>
          <a:prstGeom prst="roundRect">
            <a:avLst>
              <a:gd name="adj" fmla="val 18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216152"/>
            <a:ext cx="5175504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What it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609344"/>
            <a:ext cx="5175504" cy="18105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1E293B"/>
                </a:solidFill>
                <a:latin typeface="Segoe UI"/>
              </a:rPr>
              <a:t>Web platform to discover, book and review events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1E293B"/>
                </a:solidFill>
                <a:latin typeface="Segoe UI"/>
              </a:rPr>
              <a:t>Three roles: USER, ORGANIZER (approval-gated), ADMIN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1E293B"/>
                </a:solidFill>
                <a:latin typeface="Segoe UI"/>
              </a:rPr>
              <a:t>Organizers publish events; admins moderate everything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1E293B"/>
                </a:solidFill>
                <a:latin typeface="Segoe UI"/>
              </a:rPr>
              <a:t>Attendees book tickets (QR codes) and join live chat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1E293B"/>
                </a:solidFill>
                <a:latin typeface="Segoe UI"/>
              </a:rPr>
              <a:t>Post-event: experiences, structured feedback, analytics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188720"/>
            <a:ext cx="5833872" cy="2286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89320" y="1188720"/>
            <a:ext cx="5833872" cy="365760"/>
          </a:xfrm>
          <a:prstGeom prst="roundRect">
            <a:avLst>
              <a:gd name="adj" fmla="val 18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8" y="1216152"/>
            <a:ext cx="5614416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Feature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8" y="1609344"/>
            <a:ext cx="5614416" cy="18105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1E293B"/>
                </a:solidFill>
                <a:latin typeface="Segoe UI"/>
              </a:rPr>
              <a:t>Discovery: upcoming / trending / nearby + Leaflet maps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1E293B"/>
                </a:solidFill>
                <a:latin typeface="Segoe UI"/>
              </a:rPr>
              <a:t>Booking engine: payments (Razorpay), tickets, waitlists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1E293B"/>
                </a:solidFill>
                <a:latin typeface="Segoe UI"/>
              </a:rPr>
              <a:t>Real-time WebSocket chat per event (Channels + Redis)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1E293B"/>
                </a:solidFill>
                <a:latin typeface="Segoe UI"/>
              </a:rPr>
              <a:t>Community: photo experiences, likes, comments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1E293B"/>
                </a:solidFill>
                <a:latin typeface="Segoe UI"/>
              </a:rPr>
              <a:t>Notifications via e-mail (SMTP) and SMS (Twilio)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1E293B"/>
                </a:solidFill>
                <a:latin typeface="Segoe UI"/>
              </a:rPr>
              <a:t>Role dashboards + 'Black Box' post-event reports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703320"/>
            <a:ext cx="114300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Segoe UI"/>
              </a:rPr>
              <a:t>USER JOURNEY AT A GLANCE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114800"/>
            <a:ext cx="1783080" cy="77724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050" b="1">
                <a:solidFill>
                  <a:srgbClr val="1E293B"/>
                </a:solidFill>
                <a:latin typeface="Segoe UI"/>
              </a:rPr>
              <a:t>Register / Login (JWT)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167128" y="4352544"/>
            <a:ext cx="146304" cy="29260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313432" y="4114800"/>
            <a:ext cx="1783080" cy="77724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050" b="1">
                <a:solidFill>
                  <a:srgbClr val="1E293B"/>
                </a:solidFill>
                <a:latin typeface="Segoe UI"/>
              </a:rPr>
              <a:t>Browse &amp; search events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114800" y="4352544"/>
            <a:ext cx="146304" cy="29260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261104" y="4114800"/>
            <a:ext cx="1783080" cy="77724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050" b="1">
                <a:solidFill>
                  <a:srgbClr val="1E293B"/>
                </a:solidFill>
                <a:latin typeface="Segoe UI"/>
              </a:rPr>
              <a:t>Book + pay (Razorpay)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062472" y="4352544"/>
            <a:ext cx="146304" cy="29260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08776" y="4114800"/>
            <a:ext cx="1783080" cy="77724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050" b="1">
                <a:solidFill>
                  <a:srgbClr val="1E293B"/>
                </a:solidFill>
                <a:latin typeface="Segoe UI"/>
              </a:rPr>
              <a:t>Receive ticket + QR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010144" y="4352544"/>
            <a:ext cx="146304" cy="29260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56448" y="4114800"/>
            <a:ext cx="1783080" cy="77724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050" b="1">
                <a:solidFill>
                  <a:srgbClr val="1E293B"/>
                </a:solidFill>
                <a:latin typeface="Segoe UI"/>
              </a:rPr>
              <a:t>Chat live during event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957816" y="4352544"/>
            <a:ext cx="146304" cy="29260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104119" y="4114800"/>
            <a:ext cx="1783080" cy="77724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050" b="1">
                <a:solidFill>
                  <a:srgbClr val="1E293B"/>
                </a:solidFill>
                <a:latin typeface="Segoe UI"/>
              </a:rPr>
              <a:t>Share experience &amp; feedback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166360"/>
            <a:ext cx="11430000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E293B"/>
                </a:solidFill>
                <a:latin typeface="Segoe UI"/>
              </a:rPr>
              <a:t>Deployment topology (dev)</a:t>
            </a:r>
          </a:p>
          <a:p>
            <a:pPr algn="l"/>
            <a:r>
              <a:rPr sz="1200" b="0" i="0">
                <a:solidFill>
                  <a:srgbClr val="1E293B"/>
                </a:solidFill>
                <a:latin typeface="Segoe UI"/>
              </a:rPr>
              <a:t>React dev server :5173   |   Django/Daphne ASGI :8000   |   MySQL :3306   |   Redis :6379   |   Celery worker (async e-mail/SMS)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10896"/>
            <a:ext cx="100584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Segoe UI"/>
              </a:rPr>
              <a:t>High-Level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73152"/>
            <a:ext cx="100584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Segoe UI"/>
              </a:rPr>
              <a:t>BIRD'S-EYE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28816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EventFinder  |  Architecture &amp; Database 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28816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600200"/>
            <a:ext cx="2788920" cy="2286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600200"/>
            <a:ext cx="2788920" cy="365760"/>
          </a:xfrm>
          <a:prstGeom prst="roundRect">
            <a:avLst>
              <a:gd name="adj" fmla="val 18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627632"/>
            <a:ext cx="2569463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CLIENT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020824"/>
            <a:ext cx="2569463" cy="18105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React 19 SPA (Vite)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React Router v7 pages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Axios API client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AuthContext state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Chart.js dashboards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Leaflet event maps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069080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950" b="1">
                <a:solidFill>
                  <a:srgbClr val="1E293B"/>
                </a:solidFill>
                <a:latin typeface="Segoe UI"/>
              </a:rPr>
              <a:t>JWT access + refresh tokens
stored in browser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18688" y="2514600"/>
            <a:ext cx="749808" cy="36576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15768" y="2240280"/>
            <a:ext cx="1755648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Segoe UI"/>
              </a:rPr>
              <a:t>HTTPS  REST/JSON   +   WSS  live chat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41648" y="1188720"/>
            <a:ext cx="4160520" cy="3429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041648" y="1188720"/>
            <a:ext cx="4160520" cy="365760"/>
          </a:xfrm>
          <a:prstGeom prst="roundRect">
            <a:avLst>
              <a:gd name="adj" fmla="val 18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51376" y="1216152"/>
            <a:ext cx="3941063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Segoe UI"/>
              </a:rPr>
              <a:t>APPLICATION TIER - Django 6 on Daphne (ASGI)  :8000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51376" y="1609344"/>
            <a:ext cx="3941063" cy="29535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DRF ViewSets + Serializers  (/api/...)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SimpleJWT authentication (60 min / 7 day tokens)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django-filter, search, ordering, pagination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Channels consumers  (ws://.../ws/chat/&lt;event&gt;/)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Celery task producers (mail, SMS, reminders)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drf-spectacular -&gt; Swagger UI at /api/docs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Django admin at /admin   |   media at /media/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41648" y="4773168"/>
            <a:ext cx="4160520" cy="4572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950" b="1">
                <a:solidFill>
                  <a:srgbClr val="14532D"/>
                </a:solidFill>
                <a:latin typeface="Segoe UI"/>
              </a:rPr>
              <a:t>Middleware: CORS &gt; Security &gt; Sessions &gt; CSRF &gt; Auth</a:t>
            </a:r>
          </a:p>
        </p:txBody>
      </p:sp>
      <p:sp>
        <p:nvSpPr>
          <p:cNvPr id="20" name="Can 19"/>
          <p:cNvSpPr/>
          <p:nvPr/>
        </p:nvSpPr>
        <p:spPr>
          <a:xfrm>
            <a:off x="8796528" y="1234440"/>
            <a:ext cx="1417320" cy="1417320"/>
          </a:xfrm>
          <a:prstGeom prst="can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MySQL 8</a:t>
            </a:r>
          </a:p>
        </p:txBody>
      </p:sp>
      <p:sp>
        <p:nvSpPr>
          <p:cNvPr id="21" name="Can 20"/>
          <p:cNvSpPr/>
          <p:nvPr/>
        </p:nvSpPr>
        <p:spPr>
          <a:xfrm>
            <a:off x="10442448" y="1234440"/>
            <a:ext cx="1417320" cy="1417320"/>
          </a:xfrm>
          <a:prstGeom prst="can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Redis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96528" y="2697480"/>
            <a:ext cx="14173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Segoe UI"/>
              </a:rPr>
              <a:t>:3306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42448" y="2697480"/>
            <a:ext cx="14173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Segoe UI"/>
              </a:rPr>
              <a:t>:6379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247888" y="1783080"/>
            <a:ext cx="502920" cy="27432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44967" y="1508760"/>
            <a:ext cx="1508760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Segoe UI"/>
              </a:rPr>
              <a:t>SQL / ORM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247888" y="2331720"/>
            <a:ext cx="502920" cy="27432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44967" y="2057400"/>
            <a:ext cx="1508760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Segoe UI"/>
              </a:rPr>
              <a:t>channels + broker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10991088" y="2724912"/>
            <a:ext cx="310896" cy="384048"/>
          </a:xfrm>
          <a:prstGeom prst="down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796528" y="320040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796528" y="3200400"/>
            <a:ext cx="3063240" cy="365760"/>
          </a:xfrm>
          <a:prstGeom prst="roundRect">
            <a:avLst>
              <a:gd name="adj" fmla="val 1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06255" y="3227832"/>
            <a:ext cx="2843784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CELERY WORKER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06255" y="3621024"/>
            <a:ext cx="2843784" cy="4389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1E293B"/>
                </a:solidFill>
                <a:latin typeface="Segoe UI"/>
              </a:rPr>
              <a:t>Async tasks: e-mail, SMS,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1E293B"/>
                </a:solidFill>
                <a:latin typeface="Segoe UI"/>
              </a:rPr>
              <a:t>reminders, waitlist promotion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10149840" y="4169663"/>
            <a:ext cx="310896" cy="329184"/>
          </a:xfrm>
          <a:prstGeom prst="down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796528" y="4590288"/>
            <a:ext cx="3063240" cy="16916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796528" y="4590288"/>
            <a:ext cx="3063240" cy="365760"/>
          </a:xfrm>
          <a:prstGeom prst="roundRect">
            <a:avLst>
              <a:gd name="adj" fmla="val 1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06255" y="4617720"/>
            <a:ext cx="2843784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EXTERNAL SERVICES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06255" y="5010912"/>
            <a:ext cx="2843784" cy="12161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Gmail SMTP - transactional e-mail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Twilio - SMS notifications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Razorpay - payment gateway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5440680"/>
            <a:ext cx="768096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E293B"/>
                </a:solidFill>
                <a:latin typeface="Segoe UI"/>
              </a:rPr>
              <a:t>Two protocols, one process:</a:t>
            </a:r>
          </a:p>
          <a:p>
            <a:pPr algn="l"/>
            <a:r>
              <a:rPr sz="1150" b="0" i="0">
                <a:solidFill>
                  <a:srgbClr val="475569"/>
                </a:solidFill>
                <a:latin typeface="Segoe UI"/>
              </a:rPr>
              <a:t>HTTP requests are served through Django REST Framework; long-lived WebSocket connections bypass URLs and go straight to Channels consumers. Redis backs both the channel layer and the Celery broker.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10896"/>
            <a:ext cx="100584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Segoe UI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73152"/>
            <a:ext cx="100584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100" b="1" i="0">
                <a:solidFill>
                  <a:srgbClr val="0284C7"/>
                </a:solidFill>
                <a:latin typeface="Segoe UI"/>
              </a:rPr>
              <a:t>TOOLS &amp; VERSIONS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28816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EventFinder  |  Architecture &amp; Database 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28816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234440"/>
            <a:ext cx="1819655" cy="3840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280160"/>
            <a:ext cx="1691639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Layer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1234440"/>
            <a:ext cx="3099816" cy="3840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0592" y="1280160"/>
            <a:ext cx="2971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Technology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23560" y="1234440"/>
            <a:ext cx="3282696" cy="3840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96712" y="1280160"/>
            <a:ext cx="3154679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Why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1655064"/>
            <a:ext cx="1819655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1696212"/>
            <a:ext cx="16916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  <a:latin typeface="Segoe UI"/>
              </a:rPr>
              <a:t>Frontend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1655064"/>
            <a:ext cx="3099816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50592" y="1696212"/>
            <a:ext cx="29718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Segoe UI"/>
              </a:rPr>
              <a:t>React 19, Vite, React Router v7, Bootstrap/CSS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23560" y="1655064"/>
            <a:ext cx="3282696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96712" y="1696212"/>
            <a:ext cx="3154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Segoe UI"/>
              </a:rPr>
              <a:t>Fast SPA with component-based role pages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103120"/>
            <a:ext cx="1819655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" y="2144268"/>
            <a:ext cx="16916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  <a:latin typeface="Segoe UI"/>
              </a:rPr>
              <a:t>HTTP client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2103120"/>
            <a:ext cx="3099816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50592" y="2144268"/>
            <a:ext cx="29718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Segoe UI"/>
              </a:rPr>
              <a:t>Axios + interceptors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23560" y="2103120"/>
            <a:ext cx="3282696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2144268"/>
            <a:ext cx="3154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Segoe UI"/>
              </a:rPr>
              <a:t>Auto-attach JWT, silent token refresh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2551176"/>
            <a:ext cx="1819655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" y="2592324"/>
            <a:ext cx="16916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  <a:latin typeface="Segoe UI"/>
              </a:rPr>
              <a:t>Backend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77440" y="2551176"/>
            <a:ext cx="3099816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50592" y="2592324"/>
            <a:ext cx="29718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Segoe UI"/>
              </a:rPr>
              <a:t>Python 3.x, Django 6, Django REST Framework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23560" y="2551176"/>
            <a:ext cx="3282696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96712" y="2592324"/>
            <a:ext cx="3154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Segoe UI"/>
              </a:rPr>
              <a:t>Rapid, secure, batteries-included API framework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2999232"/>
            <a:ext cx="1819655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2" y="3040380"/>
            <a:ext cx="16916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  <a:latin typeface="Segoe UI"/>
              </a:rPr>
              <a:t>Real-time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77440" y="2999232"/>
            <a:ext cx="3099816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50592" y="3040380"/>
            <a:ext cx="29718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Segoe UI"/>
              </a:rPr>
              <a:t>Django Channels + Daphne (ASGI)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23560" y="2999232"/>
            <a:ext cx="3282696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96712" y="3040380"/>
            <a:ext cx="3154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Segoe UI"/>
              </a:rPr>
              <a:t>Native WebSocket support alongside HTTP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3447288"/>
            <a:ext cx="1819655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4632" y="3488436"/>
            <a:ext cx="16916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  <a:latin typeface="Segoe UI"/>
              </a:rPr>
              <a:t>Auth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377440" y="3447288"/>
            <a:ext cx="3099816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50592" y="3488436"/>
            <a:ext cx="29718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Segoe UI"/>
              </a:rPr>
              <a:t>SimpleJWT + custom e-mail backend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23560" y="3447288"/>
            <a:ext cx="3282696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96712" y="3488436"/>
            <a:ext cx="3154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Segoe UI"/>
              </a:rPr>
              <a:t>Stateless API auth, role-based permissions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3895344"/>
            <a:ext cx="1819655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4632" y="3936492"/>
            <a:ext cx="16916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  <a:latin typeface="Segoe UI"/>
              </a:rPr>
              <a:t>Database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377440" y="3895344"/>
            <a:ext cx="3099816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50592" y="3936492"/>
            <a:ext cx="29718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Segoe UI"/>
              </a:rPr>
              <a:t>MySQL 8 (eventfinder_db)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23560" y="3895344"/>
            <a:ext cx="3282696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96712" y="3936492"/>
            <a:ext cx="3154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Segoe UI"/>
              </a:rPr>
              <a:t>Relational integrity for booking data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4343400"/>
            <a:ext cx="1819655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4632" y="4384548"/>
            <a:ext cx="16916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  <a:latin typeface="Segoe UI"/>
              </a:rPr>
              <a:t>Cache / Broker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377440" y="4343400"/>
            <a:ext cx="3099816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450592" y="4384548"/>
            <a:ext cx="29718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Segoe UI"/>
              </a:rPr>
              <a:t>Redis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23560" y="4343400"/>
            <a:ext cx="3282696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96712" y="4384548"/>
            <a:ext cx="3154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Segoe UI"/>
              </a:rPr>
              <a:t>Channel layer + Celery message broker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4791456"/>
            <a:ext cx="1819655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84632" y="4832604"/>
            <a:ext cx="16916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  <a:latin typeface="Segoe UI"/>
              </a:rPr>
              <a:t>Async jobs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377440" y="4791456"/>
            <a:ext cx="3099816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450592" y="4832604"/>
            <a:ext cx="29718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Segoe UI"/>
              </a:rPr>
              <a:t>Celery + django-celery-beat / results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23560" y="4791456"/>
            <a:ext cx="3282696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96712" y="4832604"/>
            <a:ext cx="3154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Segoe UI"/>
              </a:rPr>
              <a:t>Scheduled reminders, reliable mail/SMS delivery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1480" y="5239512"/>
            <a:ext cx="1819655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84632" y="5280660"/>
            <a:ext cx="16916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  <a:latin typeface="Segoe UI"/>
              </a:rPr>
              <a:t>Docs &amp; QA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377440" y="5239512"/>
            <a:ext cx="3099816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450592" y="5280660"/>
            <a:ext cx="29718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Segoe UI"/>
              </a:rPr>
              <a:t>drf-spectacular (Swagger/OpenAPI)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23560" y="5239512"/>
            <a:ext cx="3282696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696712" y="5280660"/>
            <a:ext cx="3154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Segoe UI"/>
              </a:rPr>
              <a:t>Live, generated API documentation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5687568"/>
            <a:ext cx="1819655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84632" y="5728716"/>
            <a:ext cx="16916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  <a:latin typeface="Segoe UI"/>
              </a:rPr>
              <a:t>Integrations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377440" y="5687568"/>
            <a:ext cx="3099816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450592" y="5728716"/>
            <a:ext cx="29718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Segoe UI"/>
              </a:rPr>
              <a:t>Razorpay, Twilio, Gmail SMTP, qrcode/Pillow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623560" y="5687568"/>
            <a:ext cx="3282696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696712" y="5728716"/>
            <a:ext cx="3154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Segoe UI"/>
              </a:rPr>
              <a:t>Payments, messaging, ticket QR generation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10896"/>
            <a:ext cx="100584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Segoe UI"/>
              </a:rPr>
              <a:t>Backend Structure - Django Apps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73152"/>
            <a:ext cx="100584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Segoe UI"/>
              </a:rPr>
              <a:t>MODULAR MONOLITH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28816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EventFinder  |  Architecture &amp; Database 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28816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34440"/>
            <a:ext cx="3730752" cy="153619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234440"/>
            <a:ext cx="3730752" cy="365760"/>
          </a:xfrm>
          <a:prstGeom prst="roundRect">
            <a:avLst>
              <a:gd name="adj" fmla="val 18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261872"/>
            <a:ext cx="3511296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config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655064"/>
            <a:ext cx="3511296" cy="1060703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Project settings, root URLConf, ASGI/WSGI, Celery app, JWT middleware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1234440"/>
            <a:ext cx="3730752" cy="153619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79392" y="1234440"/>
            <a:ext cx="3730752" cy="365760"/>
          </a:xfrm>
          <a:prstGeom prst="roundRect">
            <a:avLst>
              <a:gd name="adj" fmla="val 18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261872"/>
            <a:ext cx="3511296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accounts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655064"/>
            <a:ext cx="3511296" cy="1060703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Custom User model, organizer profiles, profile-edit requests, e-mail login backend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234440"/>
            <a:ext cx="3730752" cy="153619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93024" y="1234440"/>
            <a:ext cx="3730752" cy="365760"/>
          </a:xfrm>
          <a:prstGeom prst="roundRect">
            <a:avLst>
              <a:gd name="adj" fmla="val 1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261872"/>
            <a:ext cx="3511296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events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1655064"/>
            <a:ext cx="3511296" cy="1060703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Events, categories, gallery, participant requests/responses, status sync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2935224"/>
            <a:ext cx="3730752" cy="153619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65760" y="2935224"/>
            <a:ext cx="3730752" cy="365760"/>
          </a:xfrm>
          <a:prstGeom prst="roundRect">
            <a:avLst>
              <a:gd name="adj" fmla="val 18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2962656"/>
            <a:ext cx="3511296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bookings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3355848"/>
            <a:ext cx="3511296" cy="1060703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Bookings, QR tickets, waitlist with automatic seat promotion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9392" y="2935224"/>
            <a:ext cx="3730752" cy="153619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279392" y="2935224"/>
            <a:ext cx="3730752" cy="365760"/>
          </a:xfrm>
          <a:prstGeom prst="roundRect">
            <a:avLst>
              <a:gd name="adj" fmla="val 18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2962656"/>
            <a:ext cx="3511296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chat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3355848"/>
            <a:ext cx="3511296" cy="1060703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Chat rooms, messages, members + WebSocket consumer (real-time)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93024" y="2935224"/>
            <a:ext cx="3730752" cy="153619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DB2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93024" y="2935224"/>
            <a:ext cx="3730752" cy="365760"/>
          </a:xfrm>
          <a:prstGeom prst="roundRect">
            <a:avLst>
              <a:gd name="adj" fmla="val 18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02752" y="2962656"/>
            <a:ext cx="3511296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community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3355848"/>
            <a:ext cx="3511296" cy="1060703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Experiences with photos, likes and comments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4636008"/>
            <a:ext cx="3730752" cy="153619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65760" y="4636008"/>
            <a:ext cx="3730752" cy="365760"/>
          </a:xfrm>
          <a:prstGeom prst="roundRect">
            <a:avLst>
              <a:gd name="adj" fmla="val 1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" y="4663440"/>
            <a:ext cx="3511296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notifications_app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" y="5056632"/>
            <a:ext cx="3511296" cy="1060703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In-app + e-mail/SMS notification records and delivery tracking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79392" y="4636008"/>
            <a:ext cx="3730752" cy="153619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279392" y="4636008"/>
            <a:ext cx="3730752" cy="365760"/>
          </a:xfrm>
          <a:prstGeom prst="roundRect">
            <a:avLst>
              <a:gd name="adj" fmla="val 18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0" y="4663440"/>
            <a:ext cx="3511296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dashboard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5056632"/>
            <a:ext cx="3511296" cy="1060703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Aggregated stats endpoints for admin / organizer / user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93024" y="4636008"/>
            <a:ext cx="3730752" cy="153619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193024" y="4636008"/>
            <a:ext cx="3730752" cy="365760"/>
          </a:xfrm>
          <a:prstGeom prst="roundRect">
            <a:avLst>
              <a:gd name="adj" fmla="val 1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02752" y="4663440"/>
            <a:ext cx="3511296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blackbox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02752" y="5056632"/>
            <a:ext cx="3511296" cy="1060703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Structured event feedback + auto-generated performance report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355080"/>
            <a:ext cx="114300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Segoe UI"/>
              </a:rPr>
              <a:t>Each app follows the same pattern:  models.py  &gt;  serializers.py  &gt;  views.py (ViewSets)  &gt;  urls.py  registered under /api/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10896"/>
            <a:ext cx="100584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Segoe UI"/>
              </a:rPr>
              <a:t>REST Request Lifecycle &amp;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73152"/>
            <a:ext cx="100584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Segoe UI"/>
              </a:rPr>
              <a:t>HOW AN API CALL TRAVELS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28816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EventFinder  |  Architecture &amp; Database 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28816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6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1325880"/>
            <a:ext cx="310896" cy="310896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293876"/>
            <a:ext cx="53949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Segoe UI"/>
              </a:rPr>
              <a:t>React page calls service in src/services/api.js (Axios)</a:t>
            </a:r>
          </a:p>
        </p:txBody>
      </p:sp>
      <p:sp>
        <p:nvSpPr>
          <p:cNvPr id="10" name="Oval 9"/>
          <p:cNvSpPr/>
          <p:nvPr/>
        </p:nvSpPr>
        <p:spPr>
          <a:xfrm>
            <a:off x="411480" y="1828800"/>
            <a:ext cx="310896" cy="310896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796796"/>
            <a:ext cx="53949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Segoe UI"/>
              </a:rPr>
              <a:t>Interceptor attaches  Authorization: Bearer &lt;access&gt;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" y="2331720"/>
            <a:ext cx="310896" cy="310896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299715"/>
            <a:ext cx="53949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Segoe UI"/>
              </a:rPr>
              <a:t>CorsMiddleware accepts the origin (dev: allow-all)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2834640"/>
            <a:ext cx="310896" cy="310896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2802636"/>
            <a:ext cx="53949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Segoe UI"/>
              </a:rPr>
              <a:t>SimpleJWT authenticates the token, resolves the user</a:t>
            </a:r>
          </a:p>
        </p:txBody>
      </p:sp>
      <p:sp>
        <p:nvSpPr>
          <p:cNvPr id="16" name="Oval 15"/>
          <p:cNvSpPr/>
          <p:nvPr/>
        </p:nvSpPr>
        <p:spPr>
          <a:xfrm>
            <a:off x="411480" y="3337560"/>
            <a:ext cx="310896" cy="310896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3305556"/>
            <a:ext cx="53949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Segoe UI"/>
              </a:rPr>
              <a:t>ViewSet applies role permission + filter/search/order</a:t>
            </a:r>
          </a:p>
        </p:txBody>
      </p:sp>
      <p:sp>
        <p:nvSpPr>
          <p:cNvPr id="18" name="Oval 17"/>
          <p:cNvSpPr/>
          <p:nvPr/>
        </p:nvSpPr>
        <p:spPr>
          <a:xfrm>
            <a:off x="411480" y="3840480"/>
            <a:ext cx="310896" cy="310896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3808476"/>
            <a:ext cx="53949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Segoe UI"/>
              </a:rPr>
              <a:t>Serializer validates input; model writes to MySQL</a:t>
            </a:r>
          </a:p>
        </p:txBody>
      </p:sp>
      <p:sp>
        <p:nvSpPr>
          <p:cNvPr id="20" name="Oval 19"/>
          <p:cNvSpPr/>
          <p:nvPr/>
        </p:nvSpPr>
        <p:spPr>
          <a:xfrm>
            <a:off x="411480" y="4343400"/>
            <a:ext cx="310896" cy="310896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311396"/>
            <a:ext cx="53949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Segoe UI"/>
              </a:rPr>
              <a:t>JSON response back; 401 triggers silent refresh call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325880"/>
            <a:ext cx="5394960" cy="2011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0" y="1325880"/>
            <a:ext cx="5394960" cy="365760"/>
          </a:xfrm>
          <a:prstGeom prst="roundRect">
            <a:avLst>
              <a:gd name="adj" fmla="val 18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1353312"/>
            <a:ext cx="5175504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Token strategy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1746504"/>
            <a:ext cx="5175504" cy="15361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Access token lifetime: 60 minutes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Refresh token lifetime: 7 days (blacklisted after rotation)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Refresh endpoint: POST /api/auth/refresh/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Login by e-mail via custom accounts.backends.EmailBackend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520440"/>
            <a:ext cx="5394960" cy="26517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0" y="3520440"/>
            <a:ext cx="5394960" cy="365760"/>
          </a:xfrm>
          <a:prstGeom prst="roundRect">
            <a:avLst>
              <a:gd name="adj" fmla="val 18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547872"/>
            <a:ext cx="5175504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Endpoint 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3941063"/>
            <a:ext cx="5175504" cy="217627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50"/>
              </a:spcAft>
            </a:pPr>
            <a:r>
              <a:rPr sz="1000" b="0" i="0">
                <a:solidFill>
                  <a:srgbClr val="1E293B"/>
                </a:solidFill>
                <a:latin typeface="Segoe UI"/>
              </a:rPr>
              <a:t>/api/auth/            register, login, refresh, passwords</a:t>
            </a:r>
          </a:p>
          <a:p>
            <a:pPr algn="l">
              <a:spcAft>
                <a:spcPts val="150"/>
              </a:spcAft>
            </a:pPr>
            <a:r>
              <a:rPr sz="1000" b="0" i="0">
                <a:solidFill>
                  <a:srgbClr val="1E293B"/>
                </a:solidFill>
                <a:latin typeface="Segoe UI"/>
              </a:rPr>
              <a:t>/api/events/          CRUD + upcoming / trending / nearby</a:t>
            </a:r>
          </a:p>
          <a:p>
            <a:pPr algn="l">
              <a:spcAft>
                <a:spcPts val="150"/>
              </a:spcAft>
            </a:pPr>
            <a:r>
              <a:rPr sz="1000" b="0" i="0">
                <a:solidFill>
                  <a:srgbClr val="1E293B"/>
                </a:solidFill>
                <a:latin typeface="Segoe UI"/>
              </a:rPr>
              <a:t>/api/categories/      event categories (admin-managed)</a:t>
            </a:r>
          </a:p>
          <a:p>
            <a:pPr algn="l">
              <a:spcAft>
                <a:spcPts val="150"/>
              </a:spcAft>
            </a:pPr>
            <a:r>
              <a:rPr sz="1000" b="0" i="0">
                <a:solidFill>
                  <a:srgbClr val="1E293B"/>
                </a:solidFill>
                <a:latin typeface="Segoe UI"/>
              </a:rPr>
              <a:t>/api/bookings/        create, list, cancel + tickets download</a:t>
            </a:r>
          </a:p>
          <a:p>
            <a:pPr algn="l">
              <a:spcAft>
                <a:spcPts val="150"/>
              </a:spcAft>
            </a:pPr>
            <a:r>
              <a:rPr sz="1000" b="0" i="0">
                <a:solidFill>
                  <a:srgbClr val="1E293B"/>
                </a:solidFill>
                <a:latin typeface="Segoe UI"/>
              </a:rPr>
              <a:t>/api/waitlist/        join / leave waiting lists</a:t>
            </a:r>
          </a:p>
          <a:p>
            <a:pPr algn="l">
              <a:spcAft>
                <a:spcPts val="150"/>
              </a:spcAft>
            </a:pPr>
            <a:r>
              <a:rPr sz="1000" b="0" i="0">
                <a:solidFill>
                  <a:srgbClr val="1E293B"/>
                </a:solidFill>
                <a:latin typeface="Segoe UI"/>
              </a:rPr>
              <a:t>/api/chat-rooms/      room metadata for each event</a:t>
            </a:r>
          </a:p>
          <a:p>
            <a:pPr algn="l">
              <a:spcAft>
                <a:spcPts val="150"/>
              </a:spcAft>
            </a:pPr>
            <a:r>
              <a:rPr sz="1000" b="0" i="0">
                <a:solidFill>
                  <a:srgbClr val="1E293B"/>
                </a:solidFill>
                <a:latin typeface="Segoe UI"/>
              </a:rPr>
              <a:t>/api/experiences/     posts + like / comment actions</a:t>
            </a:r>
          </a:p>
          <a:p>
            <a:pPr algn="l">
              <a:spcAft>
                <a:spcPts val="150"/>
              </a:spcAft>
            </a:pPr>
            <a:r>
              <a:rPr sz="1000" b="0" i="0">
                <a:solidFill>
                  <a:srgbClr val="1E293B"/>
                </a:solidFill>
                <a:latin typeface="Segoe UI"/>
              </a:rPr>
              <a:t>/api/notifications/   list, mark-as-read</a:t>
            </a:r>
          </a:p>
          <a:p>
            <a:pPr algn="l">
              <a:spcAft>
                <a:spcPts val="150"/>
              </a:spcAft>
            </a:pPr>
            <a:r>
              <a:rPr sz="1000" b="0" i="0">
                <a:solidFill>
                  <a:srgbClr val="1E293B"/>
                </a:solidFill>
                <a:latin typeface="Segoe UI"/>
              </a:rPr>
              <a:t>/api/event-feedbacks/, /api/blackbox-reports/</a:t>
            </a:r>
          </a:p>
          <a:p>
            <a:pPr algn="l">
              <a:spcAft>
                <a:spcPts val="150"/>
              </a:spcAft>
            </a:pPr>
            <a:r>
              <a:rPr sz="1000" b="0" i="0">
                <a:solidFill>
                  <a:srgbClr val="1E293B"/>
                </a:solidFill>
                <a:latin typeface="Segoe UI"/>
              </a:rPr>
              <a:t>/api/dashboard/{admin|organizer|user}/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10896"/>
            <a:ext cx="100584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Segoe UI"/>
              </a:rPr>
              <a:t>Real-Time Chat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73152"/>
            <a:ext cx="100584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100" b="1" i="0">
                <a:solidFill>
                  <a:srgbClr val="0284C7"/>
                </a:solidFill>
                <a:latin typeface="Segoe UI"/>
              </a:rPr>
              <a:t>WEBSOCKET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28816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EventFinder  |  Architecture &amp; Database 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28816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37160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" y="1371600"/>
            <a:ext cx="3611880" cy="365760"/>
          </a:xfrm>
          <a:prstGeom prst="roundRect">
            <a:avLst>
              <a:gd name="adj" fmla="val 18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" y="1399032"/>
            <a:ext cx="3392424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React Chat component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" y="1792224"/>
            <a:ext cx="3392424" cy="8961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Opens WebSocket with JWT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ws://host/ws/chat/&lt;event_id&gt;/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37160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06240" y="1371600"/>
            <a:ext cx="3611880" cy="365760"/>
          </a:xfrm>
          <a:prstGeom prst="roundRect">
            <a:avLst>
              <a:gd name="adj" fmla="val 18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15968" y="1399032"/>
            <a:ext cx="3392424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JWTAuthMiddleware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1792224"/>
            <a:ext cx="3392424" cy="8961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Custom ASGI middleware validates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the token query/handshake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137160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28431" y="1371600"/>
            <a:ext cx="3611880" cy="365760"/>
          </a:xfrm>
          <a:prstGeom prst="roundRect">
            <a:avLst>
              <a:gd name="adj" fmla="val 18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59" y="1399032"/>
            <a:ext cx="3392424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ProtocolTypeRouter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59" y="1792224"/>
            <a:ext cx="3392424" cy="8961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Routes 'websocket' scope to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Channels URLRouter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703320" y="1920240"/>
            <a:ext cx="320040" cy="27432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7525512" y="1920240"/>
            <a:ext cx="320040" cy="27432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84048" y="324612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84048" y="3246120"/>
            <a:ext cx="3611880" cy="365760"/>
          </a:xfrm>
          <a:prstGeom prst="roundRect">
            <a:avLst>
              <a:gd name="adj" fmla="val 18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" y="3273551"/>
            <a:ext cx="3392424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ChatConsumer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" y="3666744"/>
            <a:ext cx="3392424" cy="8961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connect / disconnect / receive,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group = chat_&lt;event_id&gt;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6240" y="324612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206240" y="3246120"/>
            <a:ext cx="3611880" cy="365760"/>
          </a:xfrm>
          <a:prstGeom prst="roundRect">
            <a:avLst>
              <a:gd name="adj" fmla="val 1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15968" y="3273551"/>
            <a:ext cx="3392424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Redis channel layer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5968" y="3666744"/>
            <a:ext cx="3392424" cy="8961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Fan-out messages to every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socket in the group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28431" y="324612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28431" y="3246120"/>
            <a:ext cx="3611880" cy="365760"/>
          </a:xfrm>
          <a:prstGeom prst="roundRect">
            <a:avLst>
              <a:gd name="adj" fmla="val 1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59" y="3273551"/>
            <a:ext cx="3392424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MySQL persistence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59" y="3666744"/>
            <a:ext cx="3392424" cy="8961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Messages saved to chat_message;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members tracked in chat_room_member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2057400" y="2788920"/>
            <a:ext cx="274320" cy="411480"/>
          </a:xfrm>
          <a:prstGeom prst="down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3703320" y="3794760"/>
            <a:ext cx="320040" cy="27432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ight Arrow 35"/>
          <p:cNvSpPr/>
          <p:nvPr/>
        </p:nvSpPr>
        <p:spPr>
          <a:xfrm>
            <a:off x="7525512" y="3794760"/>
            <a:ext cx="320040" cy="27432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84048" y="5074920"/>
            <a:ext cx="11384280" cy="12344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84048" y="5074920"/>
            <a:ext cx="11384280" cy="365760"/>
          </a:xfrm>
          <a:prstGeom prst="roundRect">
            <a:avLst>
              <a:gd name="adj" fmla="val 1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3776" y="5102352"/>
            <a:ext cx="11164824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Consumer capabilities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3776" y="5495544"/>
            <a:ext cx="11164824" cy="7589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Broadcast text + file attachments  -  join/leave presence events  -  typing indicators  -  history loaded from DB  -  auto-reconnect on the client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Rooms exist 1:1 with events (chat_room.event_id OneToOne)  -  membership gated to booked/involved users  -  last_seen powers the active-participants list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10896"/>
            <a:ext cx="100584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Segoe UI"/>
              </a:rPr>
              <a:t>Asynchronous Processing &amp; Notifications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73152"/>
            <a:ext cx="100584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latin typeface="Segoe UI"/>
              </a:rPr>
              <a:t>CELERY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28816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EventFinder  |  Architecture &amp; Database 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28816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3383280" cy="30175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280160"/>
            <a:ext cx="3383280" cy="365760"/>
          </a:xfrm>
          <a:prstGeom prst="roundRect">
            <a:avLst>
              <a:gd name="adj" fmla="val 18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307592"/>
            <a:ext cx="3163824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PRODUCERS (Django views/signals)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700784"/>
            <a:ext cx="3163824" cy="2542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Booking confirmed / rejected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Payment success / failure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Organizer &amp; event approvals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Waitlist seat assigned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Participant request activity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Feedback reminder scheduling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822191" y="2606040"/>
            <a:ext cx="457200" cy="329184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9272" y="2331720"/>
            <a:ext cx="1463040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Segoe UI"/>
              </a:rPr>
              <a:t>task.delay()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280160"/>
            <a:ext cx="3383280" cy="30175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43400" y="1280160"/>
            <a:ext cx="3383280" cy="365760"/>
          </a:xfrm>
          <a:prstGeom prst="roundRect">
            <a:avLst>
              <a:gd name="adj" fmla="val 1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8" y="1307592"/>
            <a:ext cx="3163824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REDIS BROKER  :6379/db0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1700784"/>
            <a:ext cx="3163824" cy="2542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Queues JSON-serialized tasks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Results backend for statuses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django-celery-beat schedules: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   - 24h-before-event reminders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   - event status sync jobs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799831" y="2606040"/>
            <a:ext cx="457200" cy="329184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96912" y="2331720"/>
            <a:ext cx="1463040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Segoe UI"/>
              </a:rPr>
              <a:t>consume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1280160"/>
            <a:ext cx="3502152" cy="30175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21040" y="1280160"/>
            <a:ext cx="3502152" cy="365760"/>
          </a:xfrm>
          <a:prstGeom prst="roundRect">
            <a:avLst>
              <a:gd name="adj" fmla="val 18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0767" y="1307592"/>
            <a:ext cx="3282696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CELERY WORKER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0767" y="1700784"/>
            <a:ext cx="3282696" cy="25420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send_booking_email()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send_booking_sms()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send_event_reminders()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notify_waitlist_promotion()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Delivery status written back to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email_notification / sms_notification rows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572000"/>
            <a:ext cx="11457432" cy="16916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65760" y="4572000"/>
            <a:ext cx="11457432" cy="365760"/>
          </a:xfrm>
          <a:prstGeom prst="roundRect">
            <a:avLst>
              <a:gd name="adj" fmla="val 1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4599432"/>
            <a:ext cx="11237976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DELIVERY CHANNELS &amp; TRACKING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" y="4992624"/>
            <a:ext cx="11237976" cy="12161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35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E-mail via Gmail SMTP (TLS :587)  -  templated HTML bodies  -  retry + error_message audit trail</a:t>
            </a:r>
          </a:p>
          <a:p>
            <a:pPr algn="l">
              <a:spcAft>
                <a:spcPts val="35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SMS via Twilio API  -  provider_message_id stored for reconciliation  -  160-char payloads</a:t>
            </a:r>
          </a:p>
          <a:p>
            <a:pPr algn="l">
              <a:spcAft>
                <a:spcPts val="35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Every delivery hangs off a Notification row (OneToOne), so users see one unified feed in the UI bell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10896"/>
            <a:ext cx="100584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Segoe UI"/>
              </a:rPr>
              <a:t>Frontend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73152"/>
            <a:ext cx="100584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Segoe UI"/>
              </a:rPr>
              <a:t>REACT SPA ANATOMY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28816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EventFinder  |  Architecture &amp; Database 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28816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34440"/>
            <a:ext cx="3657600" cy="23774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234440"/>
            <a:ext cx="3657600" cy="365760"/>
          </a:xfrm>
          <a:prstGeom prst="roundRect">
            <a:avLst>
              <a:gd name="adj" fmla="val 18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261872"/>
            <a:ext cx="3438144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src/services/api.js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655064"/>
            <a:ext cx="3438144" cy="19019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Single Axios instance, baseURL=/api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Request interceptor: attach Bearer token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Response interceptor: on 401 call refresh,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retry original request once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794760"/>
            <a:ext cx="3657600" cy="23774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" y="3794760"/>
            <a:ext cx="3657600" cy="365760"/>
          </a:xfrm>
          <a:prstGeom prst="roundRect">
            <a:avLst>
              <a:gd name="adj" fmla="val 18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3822192"/>
            <a:ext cx="3438144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src/context/AuthContext.jsx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4215384"/>
            <a:ext cx="3438144" cy="19019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Global user + token state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login / logout / register helpers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Persists session across reloads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Drives Navbar and route guards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1234440"/>
            <a:ext cx="3657600" cy="23774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06240" y="1234440"/>
            <a:ext cx="3657600" cy="365760"/>
          </a:xfrm>
          <a:prstGeom prst="roundRect">
            <a:avLst>
              <a:gd name="adj" fmla="val 18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15968" y="1261872"/>
            <a:ext cx="3438144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src/pages/*  (by role)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1655064"/>
            <a:ext cx="3438144" cy="19019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public: HomePage, EventList, EventDetail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user/: Dashboard, Bookings, Experiences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organizer/: CRUD events, analytics, bookings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admin/: approvals, users, categories, stats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+ participants/, blackbox/, common/ (profile,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payment receipt/failure), chat component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3794760"/>
            <a:ext cx="3657600" cy="23774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DB2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206240" y="3794760"/>
            <a:ext cx="3657600" cy="365760"/>
          </a:xfrm>
          <a:prstGeom prst="roundRect">
            <a:avLst>
              <a:gd name="adj" fmla="val 18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15968" y="3822192"/>
            <a:ext cx="3438144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src/components/*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5968" y="4215384"/>
            <a:ext cx="3438144" cy="19019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Navbar (role-aware menu)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Chat/ (WebSocket chat widget)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NotificationBell (polling feed)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AnimatedCount and shared CSS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1234440"/>
            <a:ext cx="3776472" cy="49377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46720" y="1234440"/>
            <a:ext cx="3776472" cy="365760"/>
          </a:xfrm>
          <a:prstGeom prst="roundRect">
            <a:avLst>
              <a:gd name="adj" fmla="val 1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56448" y="1261872"/>
            <a:ext cx="3557015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Routing &amp; guards (App.jsx)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6448" y="1655064"/>
            <a:ext cx="3557015" cy="446227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BrowserRouter wraps AuthProvider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ProtectedRoute checks isAuthenticated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allowedRoles=['USER'|'ORGANIZER'|'ADMIN']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Extra gate: unapproved organizers see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PendingApproval screen instead of pages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Visualisation libraries: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Chart.js + react-chartjs-2 for analytics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Leaflet + react-leaflet for nearby-events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map view and geolocation search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10896"/>
            <a:ext cx="100584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Segoe UI"/>
              </a:rPr>
              <a:t>Database Schema - Domain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73152"/>
            <a:ext cx="100584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Segoe UI"/>
              </a:rPr>
              <a:t>MYSQL  -  EVENTFINDER_DB  -  23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28816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EventFinder  |  Architecture &amp; Database 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28816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34440"/>
            <a:ext cx="3703320" cy="32918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234440"/>
            <a:ext cx="3703320" cy="365760"/>
          </a:xfrm>
          <a:prstGeom prst="roundRect">
            <a:avLst>
              <a:gd name="adj" fmla="val 18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261872"/>
            <a:ext cx="3483863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655064"/>
            <a:ext cx="3483863" cy="2816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User (role, phone, avatar)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OrganizerProfile (gov-ID, approval)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ProfileEditRequest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42816" y="1234440"/>
            <a:ext cx="3703320" cy="32918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42816" y="1234440"/>
            <a:ext cx="3703320" cy="365760"/>
          </a:xfrm>
          <a:prstGeom prst="roundRect">
            <a:avLst>
              <a:gd name="adj" fmla="val 1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261872"/>
            <a:ext cx="3483863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EVENTS &amp; COMMERCE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2544" y="1655064"/>
            <a:ext cx="3483863" cy="2816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Category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Event (venue, geo, seats, amenities)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EventImage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Booking  &gt;  Ticket (QR)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WaitlistEntry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ParticipantRequest / Response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1234440"/>
            <a:ext cx="3703320" cy="32918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19872" y="1234440"/>
            <a:ext cx="3703320" cy="365760"/>
          </a:xfrm>
          <a:prstGeom prst="roundRect">
            <a:avLst>
              <a:gd name="adj" fmla="val 18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261872"/>
            <a:ext cx="3483863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ENGAGEMENT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655064"/>
            <a:ext cx="3483863" cy="2816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ChatRoom &gt; ChatMessage, ChatRoomMember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EventExperience &gt; Images / Likes / Comments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Notification &gt; Email / SMS record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EventFeedback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EventBlackBoxReport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709160"/>
            <a:ext cx="114300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Segoe UI"/>
              </a:rPr>
              <a:t>CORE RELATIONSHIPS (FK PATHS)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074920"/>
            <a:ext cx="2761488" cy="4572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950" b="1">
                <a:solidFill>
                  <a:srgbClr val="1E293B"/>
                </a:solidFill>
                <a:latin typeface="Segoe UI"/>
              </a:rPr>
              <a:t>User --1:N--&gt; Event (organizer)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27832" y="5074920"/>
            <a:ext cx="2761488" cy="4572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950" b="1">
                <a:solidFill>
                  <a:srgbClr val="1E293B"/>
                </a:solidFill>
                <a:latin typeface="Segoe UI"/>
              </a:rPr>
              <a:t>Category --1:N--&gt; Event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9904" y="5074920"/>
            <a:ext cx="2761488" cy="4572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950" b="1">
                <a:solidFill>
                  <a:srgbClr val="1E293B"/>
                </a:solidFill>
                <a:latin typeface="Segoe UI"/>
              </a:rPr>
              <a:t>Event --1:N--&gt; Booking --1:N--&gt; Ticket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1976" y="5074920"/>
            <a:ext cx="2761488" cy="4572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950" b="1">
                <a:solidFill>
                  <a:srgbClr val="1E293B"/>
                </a:solidFill>
                <a:latin typeface="Segoe UI"/>
              </a:rPr>
              <a:t>Event --1:1--&gt; ChatRoom --1:N--&gt; Message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5623560"/>
            <a:ext cx="2761488" cy="4572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950" b="1">
                <a:solidFill>
                  <a:srgbClr val="1E293B"/>
                </a:solidFill>
                <a:latin typeface="Segoe UI"/>
              </a:rPr>
              <a:t>User+N --1:1--&gt; Experience / Feedback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27832" y="5623560"/>
            <a:ext cx="2761488" cy="4572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950" b="1">
                <a:solidFill>
                  <a:srgbClr val="1E293B"/>
                </a:solidFill>
                <a:latin typeface="Segoe UI"/>
              </a:rPr>
              <a:t>Notification --1:1--&gt; Email / SMS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89904" y="5623560"/>
            <a:ext cx="2761488" cy="4572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950" b="1">
                <a:solidFill>
                  <a:srgbClr val="1E293B"/>
                </a:solidFill>
                <a:latin typeface="Segoe UI"/>
              </a:rPr>
              <a:t>Event --1:1--&gt; BlackBoxReport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51976" y="5623560"/>
            <a:ext cx="2761488" cy="4572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950" b="1">
                <a:solidFill>
                  <a:srgbClr val="1E293B"/>
                </a:solidFill>
                <a:latin typeface="Segoe UI"/>
              </a:rPr>
              <a:t>Event --1:N--&gt; ParticipantRequest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172200"/>
            <a:ext cx="114300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  <a:latin typeface="Segoe UI"/>
              </a:rPr>
              <a:t>All PKs are BIGINT auto-increment. Deletes cascade from owners (user/event) downward; reviewer references use SET_NULL.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10896"/>
            <a:ext cx="100584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Segoe UI"/>
              </a:rPr>
              <a:t>Schema - accounts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73152"/>
            <a:ext cx="100584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Segoe UI"/>
              </a:rPr>
              <a:t>IDENTITY &amp;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28816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EventFinder  |  Architecture &amp; Database 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28816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3749039" cy="32918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188720"/>
            <a:ext cx="3749039" cy="365760"/>
          </a:xfrm>
          <a:prstGeom prst="roundRect">
            <a:avLst>
              <a:gd name="adj" fmla="val 18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216152"/>
            <a:ext cx="3529583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User  (extends AbstractUser)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609344"/>
            <a:ext cx="3529583" cy="2816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id PK  -  username UQ  -  email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password (hashed)  -  first/last name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role  USER | ORGANIZER | ADMIN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phone_number  varchar(15) UQ, regex-checked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profile_picture  image upload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is_verified bool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created_at / updated_at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/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Inherited: groups, permissions, last_login,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is_active, is_staff, is_superuser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188720"/>
            <a:ext cx="3749039" cy="32918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1188720"/>
            <a:ext cx="3749039" cy="365760"/>
          </a:xfrm>
          <a:prstGeom prst="roundRect">
            <a:avLst>
              <a:gd name="adj" fmla="val 18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1216152"/>
            <a:ext cx="3529583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OrganizerProfile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1609344"/>
            <a:ext cx="3529583" cy="2816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id PK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user_id FK -&gt; User   (OneToOne, UQ)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organization_name  varchar(200)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government_id  file upload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address  text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approval_status  PENDING | APPROVED | REJECTED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created_at / updated_at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498848"/>
            <a:ext cx="37490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Segoe UI"/>
              </a:rPr>
              <a:t>Admin approves before organizer can publish.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188720"/>
            <a:ext cx="3593592" cy="32918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0" y="1188720"/>
            <a:ext cx="3593592" cy="365760"/>
          </a:xfrm>
          <a:prstGeom prst="roundRect">
            <a:avLst>
              <a:gd name="adj" fmla="val 18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7" y="1216152"/>
            <a:ext cx="3374136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ProfileEditRequest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1609344"/>
            <a:ext cx="3374136" cy="2816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id PK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user_id FK -&gt; User (cascade)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proposed_data  JSON  (field changes)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status  PENDING | APPROVED | REJECTED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admin_notes  text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reviewed_by FK -&gt; User  (SET_NULL)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created_at / updated_at  (ordered newest)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800600"/>
            <a:ext cx="11457432" cy="14173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65760" y="4800600"/>
            <a:ext cx="11457432" cy="365760"/>
          </a:xfrm>
          <a:prstGeom prst="roundRect">
            <a:avLst>
              <a:gd name="adj" fmla="val 18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4828032"/>
            <a:ext cx="11237976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Notes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5221224"/>
            <a:ext cx="11237976" cy="941831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PK = primary key   -   FK = foreign key   -   UQ = unique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AUTH_USER_MODEL = accounts.User  -  login uses the e-mail backend, falling back to Django's ModelBackend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Roles are stored on the row itself (no separate role table)  -  organizer capability is additionally gated by OrganizerProfile.approval_status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10896"/>
            <a:ext cx="100584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Segoe UI"/>
              </a:rPr>
              <a:t>Schema - events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73152"/>
            <a:ext cx="100584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Segoe UI"/>
              </a:rPr>
              <a:t>CATALOGUE, GEO &amp; PARTICIPANT REQUESTS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28816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EventFinder  |  Architecture &amp; Database 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28816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2743200" cy="23774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188720"/>
            <a:ext cx="2743200" cy="365760"/>
          </a:xfrm>
          <a:prstGeom prst="roundRect">
            <a:avLst>
              <a:gd name="adj" fmla="val 1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216152"/>
            <a:ext cx="2523744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Category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609344"/>
            <a:ext cx="2523744" cy="19019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id PK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name  UQ varchar(100)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description  text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icon  varchar(100)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timestamps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188720"/>
            <a:ext cx="5577840" cy="23774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91840" y="1188720"/>
            <a:ext cx="5577840" cy="365760"/>
          </a:xfrm>
          <a:prstGeom prst="roundRect">
            <a:avLst>
              <a:gd name="adj" fmla="val 1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01568" y="1216152"/>
            <a:ext cx="5358383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Event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1609344"/>
            <a:ext cx="5358383" cy="19019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id PK  -  organizer_id FK -&gt; User  -  category_id FK -&gt; Category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title / description  -  venue / city  -  latitude, longitude dec(9,6)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start_date, end_date, start_time, end_time  -  banner image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ticket_price dec(10,2)  -  total_seats / available_seats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booking_deadline  -  language  -  what_to_bring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amenities: parking, wifi, food, water, restroom, charging, wheelchair, prayer_room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certificate_available + certificate_template file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status  PENDING | UPCOMING | ONGOING | COMPLETED | POSTPONED | CANCELLED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188720"/>
            <a:ext cx="2770632" cy="23774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52560" y="1188720"/>
            <a:ext cx="2770632" cy="365760"/>
          </a:xfrm>
          <a:prstGeom prst="roundRect">
            <a:avLst>
              <a:gd name="adj" fmla="val 1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62288" y="1216152"/>
            <a:ext cx="2551176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EventImage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2288" y="1609344"/>
            <a:ext cx="2551176" cy="19019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id PK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event_id FK -&gt; Event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(related_name=gallery)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image  upload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uploaded_at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886200"/>
            <a:ext cx="5577840" cy="21488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65760" y="3886200"/>
            <a:ext cx="5577840" cy="365760"/>
          </a:xfrm>
          <a:prstGeom prst="roundRect">
            <a:avLst>
              <a:gd name="adj" fmla="val 1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3913632"/>
            <a:ext cx="5358383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ParticipantRequest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4306824"/>
            <a:ext cx="5358383" cy="1673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id PK  -  event_id FK -&gt; Event  -  organizer_id FK -&gt; User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description text  -  required_participants int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current_participants int  -  deadline dt nullable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status  OPEN | FULFILLED | CLOSED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886200"/>
            <a:ext cx="5696712" cy="21488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26480" y="3886200"/>
            <a:ext cx="5696712" cy="365760"/>
          </a:xfrm>
          <a:prstGeom prst="roundRect">
            <a:avLst>
              <a:gd name="adj" fmla="val 1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6208" y="3913632"/>
            <a:ext cx="5477256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ParticipantResponse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208" y="4306824"/>
            <a:ext cx="5477256" cy="1673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id PK  -  participant_request_id FK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user_id FK -&gt; User  -  message text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status  INTERESTED | SELECTED | DECLINED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UQ (participant_request, user)  -  one response per user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6053327"/>
            <a:ext cx="5696712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Segoe UI"/>
              </a:rPr>
              <a:t>sync_statuses() advances UPCOMING-&gt;ONGOING-&gt;COMPLETED automatically.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10896"/>
            <a:ext cx="100584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Segoe UI"/>
              </a:rPr>
              <a:t>Schema - bookings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73152"/>
            <a:ext cx="100584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Segoe UI"/>
              </a:rPr>
              <a:t>TICKETS, PAYMENTS &amp; WAITLIST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28816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EventFinder  |  Architecture &amp; Database 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28816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3749039" cy="3200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188720"/>
            <a:ext cx="3749039" cy="365760"/>
          </a:xfrm>
          <a:prstGeom prst="roundRect">
            <a:avLst>
              <a:gd name="adj" fmla="val 18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216152"/>
            <a:ext cx="3529583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Booking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609344"/>
            <a:ext cx="3529583" cy="27249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id PK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user_id FK -&gt; User   -   event_id FK -&gt; Event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number_of_tickets  int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total_price  dec(10,2)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status  PENDING | PENDING_APPROVAL | CONFIRMED | CANCELLED | REJECTED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payment_id  varchar UQ  (Razorpay ref)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booking_reference  varchar(50) UQ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timestamps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07407"/>
            <a:ext cx="37490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Segoe UI"/>
              </a:rPr>
              <a:t>Indexed: (user,event) and booking_reference.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188720"/>
            <a:ext cx="3749039" cy="3200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97680" y="1188720"/>
            <a:ext cx="3749039" cy="365760"/>
          </a:xfrm>
          <a:prstGeom prst="roundRect">
            <a:avLst>
              <a:gd name="adj" fmla="val 18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1216152"/>
            <a:ext cx="3529583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Ticket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1609344"/>
            <a:ext cx="3529583" cy="27249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id PK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booking_id FK -&gt; Booking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(related_name=tickets)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ticket_number  varchar(50) UQ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qr_code  PNG generated server-side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   (qrcode lib, ERROR_CORRECT_H)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is_scanned bool  -  scanned_at dt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created_at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407407"/>
            <a:ext cx="37490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Segoe UI"/>
              </a:rPr>
              <a:t>One Ticket row per attendee seat.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188720"/>
            <a:ext cx="3593592" cy="3200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0" y="1188720"/>
            <a:ext cx="3593592" cy="365760"/>
          </a:xfrm>
          <a:prstGeom prst="roundRect">
            <a:avLst>
              <a:gd name="adj" fmla="val 18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7" y="1216152"/>
            <a:ext cx="3374136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WaitlistEntry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1609344"/>
            <a:ext cx="3374136" cy="27249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id PK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event_id FK -&gt; Event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user_id FK -&gt; User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status  WAITING | ASSIGNED | REMOVED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position  int (auto-computed order)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UQ (event, user)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timestamps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407407"/>
            <a:ext cx="3593592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Segoe UI"/>
              </a:rPr>
              <a:t>next_in_line() promotes FIFO when seats free up.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709160"/>
            <a:ext cx="11457432" cy="15087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65760" y="4709160"/>
            <a:ext cx="11457432" cy="365760"/>
          </a:xfrm>
          <a:prstGeom prst="roundRect">
            <a:avLst>
              <a:gd name="adj" fmla="val 18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4736592"/>
            <a:ext cx="11237976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Booking lifecycle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5129784"/>
            <a:ext cx="11237976" cy="1033271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35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Create booking -&gt; pay via Razorpay -&gt; CONFIRMED (or PENDING_APPROVAL for organizer-run flows) -&gt; tickets + QR generated -&gt; e-mail/SMS receipt</a:t>
            </a:r>
          </a:p>
          <a:p>
            <a:pPr algn="l">
              <a:spcAft>
                <a:spcPts val="35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Cancel frees seats: next WAITLIST entry flips to ASSIGNED automatically and is notified; fully-booked events emit FULLY_BOOKED notifications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10896"/>
            <a:ext cx="100584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Segoe UI"/>
              </a:rPr>
              <a:t>Schema - chat &amp; community Apps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73152"/>
            <a:ext cx="100584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100" b="1" i="0">
                <a:solidFill>
                  <a:srgbClr val="0284C7"/>
                </a:solidFill>
                <a:latin typeface="Segoe UI"/>
              </a:rPr>
              <a:t>CONVERSATION + SOCIAL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28816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EventFinder  |  Architecture &amp; Database 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28816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078992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300" b="1" i="0">
                <a:solidFill>
                  <a:srgbClr val="0284C7"/>
                </a:solidFill>
                <a:latin typeface="Segoe UI"/>
              </a:rPr>
              <a:t>CHAT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371600"/>
            <a:ext cx="5577840" cy="14173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5577840" cy="365760"/>
          </a:xfrm>
          <a:prstGeom prst="roundRect">
            <a:avLst>
              <a:gd name="adj" fmla="val 18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1399032"/>
            <a:ext cx="5358383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ChatRoom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" y="1792224"/>
            <a:ext cx="5358383" cy="941831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id PK   -   event_id FK -&gt; Event  (OneToOne UQ)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timestamps   -   created when event goes live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2926080"/>
            <a:ext cx="5577840" cy="15544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4048" y="2926080"/>
            <a:ext cx="5577840" cy="365760"/>
          </a:xfrm>
          <a:prstGeom prst="roundRect">
            <a:avLst>
              <a:gd name="adj" fmla="val 18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" y="2953512"/>
            <a:ext cx="5358383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ChatMessage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" y="3346704"/>
            <a:ext cx="5358383" cy="1078991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id PK  -  chat_room_id FK -&gt; ChatRoom  -  user_id FK -&gt; User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message  text   -   attachment  file (optional)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Indexed (chat_room, created_at) for fast history loads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4617720"/>
            <a:ext cx="5577840" cy="15544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4048" y="4617720"/>
            <a:ext cx="5577840" cy="365760"/>
          </a:xfrm>
          <a:prstGeom prst="roundRect">
            <a:avLst>
              <a:gd name="adj" fmla="val 18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" y="4645152"/>
            <a:ext cx="5358383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ChatRoomMember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" y="5038344"/>
            <a:ext cx="5358383" cy="1078991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id PK  -  chat_room_id FK  -  user_id FK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joined_at  -  last_seen (auto-updated)  -  is_active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UQ (chat_room, user)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078992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300" b="1" i="0">
                <a:solidFill>
                  <a:srgbClr val="DB2777"/>
                </a:solidFill>
                <a:latin typeface="Segoe UI"/>
              </a:rPr>
              <a:t>COMMUNITY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371600"/>
            <a:ext cx="5605272" cy="14173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DB2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17920" y="1371600"/>
            <a:ext cx="5605272" cy="365760"/>
          </a:xfrm>
          <a:prstGeom prst="roundRect">
            <a:avLst>
              <a:gd name="adj" fmla="val 18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1399032"/>
            <a:ext cx="5385816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EventExperience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1792224"/>
            <a:ext cx="5385816" cy="941831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id PK  -  user_id FK  -  event_id FK  -  UQ (user,event)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title / description  -  rating 1-5  -  likes_count (denorm.)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2926080"/>
            <a:ext cx="2743200" cy="32461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DB2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17920" y="2926080"/>
            <a:ext cx="2743200" cy="365760"/>
          </a:xfrm>
          <a:prstGeom prst="roundRect">
            <a:avLst>
              <a:gd name="adj" fmla="val 18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7648" y="2953512"/>
            <a:ext cx="2523744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ExperienceImage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3346704"/>
            <a:ext cx="2523744" cy="27706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id PK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experience_id FK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image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caption (500)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uploaded_at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98280" y="2926080"/>
            <a:ext cx="2724912" cy="15544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DB2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098280" y="2926080"/>
            <a:ext cx="2724912" cy="365760"/>
          </a:xfrm>
          <a:prstGeom prst="roundRect">
            <a:avLst>
              <a:gd name="adj" fmla="val 18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08007" y="2953512"/>
            <a:ext cx="2505456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ExperienceLike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08007" y="3346704"/>
            <a:ext cx="2505456" cy="1078991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id PK  -  experience_id FK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user_id FK  -  UQ (experience,user)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98280" y="4617720"/>
            <a:ext cx="2724912" cy="15544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DB2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098280" y="4617720"/>
            <a:ext cx="2724912" cy="365760"/>
          </a:xfrm>
          <a:prstGeom prst="roundRect">
            <a:avLst>
              <a:gd name="adj" fmla="val 18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08007" y="4645152"/>
            <a:ext cx="2505456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ExperienceComment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08007" y="5038344"/>
            <a:ext cx="2505456" cy="1078991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id PK  -  experience_id FK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user_id FK  -  comment text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Indexed (experience, created_at)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10896"/>
            <a:ext cx="100584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Segoe UI"/>
              </a:rPr>
              <a:t>Schema - notifications_app &amp; blackbox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73152"/>
            <a:ext cx="100584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Segoe UI"/>
              </a:rPr>
              <a:t>MESSAGING RECORDS + INSIGHT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28816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EventFinder  |  Architecture &amp; Database 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28816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078992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Segoe UI"/>
              </a:rPr>
              <a:t>NOTIFICATIONS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371600"/>
            <a:ext cx="5577840" cy="23774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5577840" cy="365760"/>
          </a:xfrm>
          <a:prstGeom prst="roundRect">
            <a:avLst>
              <a:gd name="adj" fmla="val 1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1399032"/>
            <a:ext cx="5358383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Notification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" y="1792224"/>
            <a:ext cx="5358383" cy="19019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id PK  -  user_id FK -&gt; User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notification_type  ~25 choices (booking, event,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approval, chat, payment, waitlist, feedback...)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title / message  -  related_event_id FK (null)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related_booking_id FK (null)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is_read bool  -  read_at dt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Indexed (user,-created_at) and (is_read,user)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3886200"/>
            <a:ext cx="2743200" cy="2286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4048" y="3886200"/>
            <a:ext cx="2743200" cy="365760"/>
          </a:xfrm>
          <a:prstGeom prst="roundRect">
            <a:avLst>
              <a:gd name="adj" fmla="val 1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" y="3913632"/>
            <a:ext cx="2523744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EmailNotification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" y="4306824"/>
            <a:ext cx="2523744" cy="18105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id PK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notification_id FK (1:1 UQ)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recipient_email, subject, body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status PENDING|SENT|FAILED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sent_at, error_message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64408" y="388620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264408" y="3886200"/>
            <a:ext cx="2697480" cy="365760"/>
          </a:xfrm>
          <a:prstGeom prst="roundRect">
            <a:avLst>
              <a:gd name="adj" fmla="val 1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74136" y="3913632"/>
            <a:ext cx="2478024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SMSNotification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4136" y="4306824"/>
            <a:ext cx="2478024" cy="18105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id PK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notification_id FK (1:1 UQ)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phone_number, message(160)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status, sent_at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provider, provider_message_id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078992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  <a:latin typeface="Segoe UI"/>
              </a:rPr>
              <a:t>BLACKBOX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371600"/>
            <a:ext cx="5605272" cy="23774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17920" y="1371600"/>
            <a:ext cx="5605272" cy="365760"/>
          </a:xfrm>
          <a:prstGeom prst="roundRect">
            <a:avLst>
              <a:gd name="adj" fmla="val 1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1399032"/>
            <a:ext cx="5385816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EventFeedback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1792224"/>
            <a:ext cx="5385816" cy="19019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id PK  -  event_id FK  -  user_id FK  -  UQ (event,user)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rating  1-5  -  suggestions text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positive_feedback JSON list (venue/speaker/activities/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organization/networking)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problems JSON list (late_start, crowded, price...)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Indexed (event, rating)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886200"/>
            <a:ext cx="5605272" cy="2286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17920" y="3886200"/>
            <a:ext cx="5605272" cy="365760"/>
          </a:xfrm>
          <a:prstGeom prst="roundRect">
            <a:avLst>
              <a:gd name="adj" fmla="val 1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7648" y="3913632"/>
            <a:ext cx="5385816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EventBlackBoxReport  (1:1 Event)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4306824"/>
            <a:ext cx="5385816" cy="181051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expected vs actual attendees  -  total_feedbacks  -  avg rating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sentiment_positive / neutral / negative  (% dec(5,2))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success_factors, problems_found, recommendations: JSON</a:t>
            </a:r>
          </a:p>
          <a:p>
            <a:pPr algn="l">
              <a:spcAft>
                <a:spcPts val="5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category_stats: JSON  -  generated_at / updated_at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4114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10896"/>
            <a:ext cx="100584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Segoe UI"/>
              </a:rPr>
              <a:t>Design Highlights &amp;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73152"/>
            <a:ext cx="100584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100" b="1" i="0">
                <a:solidFill>
                  <a:srgbClr val="475569"/>
                </a:solidFill>
                <a:latin typeface="Segoe U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28816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EventFinder  |  Architecture &amp; Database 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28816"/>
            <a:ext cx="5486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34440"/>
            <a:ext cx="5577840" cy="48920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234440"/>
            <a:ext cx="5577840" cy="365760"/>
          </a:xfrm>
          <a:prstGeom prst="roundRect">
            <a:avLst>
              <a:gd name="adj" fmla="val 18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261872"/>
            <a:ext cx="5358383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Schema design decisions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655064"/>
            <a:ext cx="5358383" cy="4416551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Single custom User table with role column keeps auth simple;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organizer trust handled by separate verified profile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Composite unique constraints enforce business rules at the DB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level: one experience / feedback / waitlist slot per user+event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Purposeful indexes on hot paths: (user,event) bookings,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(chat_room, created_at) history, (user,-created_at) feeds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JSON columns (feedback tags, report insights, proposed edits)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give schema flexibility where structure is open-ended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Denormalized counters (likes_count, current_participants,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available_seats) trade strict normal form for read speed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234440"/>
            <a:ext cx="5650992" cy="48920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524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1234440"/>
            <a:ext cx="5650992" cy="365760"/>
          </a:xfrm>
          <a:prstGeom prst="roundRect">
            <a:avLst>
              <a:gd name="adj" fmla="val 18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261872"/>
            <a:ext cx="5431536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Architecture takeaways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655064"/>
            <a:ext cx="5431536" cy="4416551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Modular monolith: 8 focused Django apps behind one router -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easy to split into services later if scale demands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One ASGI process serves HTTP + WebSockets (Daphne), so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deployment stays simple while enabling real-time features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Redis plays double duty: Channels layer + Celery broker,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decoupling slow work (mail/SMS/reminders) from requests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Security posture: JWT with rotation blacklist, role-guarded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ViewSets, admin approval gates for organizers and events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Observability: Swagger docs, delivery-status tables for every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notification, and Black Box reports for event ROI insight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EventFinder - Architecture &amp; Database Schema</dc:title>
  <dc:subject/>
  <dc:creator>EventFinder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